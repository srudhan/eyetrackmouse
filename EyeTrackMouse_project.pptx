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1"/>
  </p:notesMasterIdLst>
  <p:handoutMasterIdLst>
    <p:handoutMasterId r:id="rId22"/>
  </p:handoutMasterIdLst>
  <p:sldIdLst>
    <p:sldId id="410" r:id="rId5"/>
    <p:sldId id="422" r:id="rId6"/>
    <p:sldId id="412" r:id="rId7"/>
    <p:sldId id="426" r:id="rId8"/>
    <p:sldId id="430" r:id="rId9"/>
    <p:sldId id="431" r:id="rId10"/>
    <p:sldId id="427" r:id="rId11"/>
    <p:sldId id="432" r:id="rId12"/>
    <p:sldId id="439" r:id="rId13"/>
    <p:sldId id="441" r:id="rId14"/>
    <p:sldId id="436" r:id="rId15"/>
    <p:sldId id="440" r:id="rId16"/>
    <p:sldId id="442" r:id="rId17"/>
    <p:sldId id="437" r:id="rId18"/>
    <p:sldId id="438" r:id="rId19"/>
    <p:sldId id="39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130" autoAdjust="0"/>
    <p:restoredTop sz="95917" autoAdjust="0"/>
  </p:normalViewPr>
  <p:slideViewPr>
    <p:cSldViewPr snapToGrid="0">
      <p:cViewPr varScale="1">
        <p:scale>
          <a:sx n="96" d="100"/>
          <a:sy n="96" d="100"/>
        </p:scale>
        <p:origin x="176" y="79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11/11/25</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11/11/25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16</a:t>
            </a:fld>
            <a:endParaRPr lang="en-US"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1483112" y="1473199"/>
            <a:ext cx="10313192" cy="2230119"/>
          </a:xfrm>
        </p:spPr>
        <p:txBody>
          <a:bodyPr/>
          <a:lstStyle/>
          <a:p>
            <a:pPr algn="ctr"/>
            <a:r>
              <a:rPr lang="en-IN" sz="3000" dirty="0">
                <a:latin typeface="Times New Roman" panose="02020603050405020304" pitchFamily="18" charset="0"/>
                <a:cs typeface="Times New Roman" panose="02020603050405020304" pitchFamily="18" charset="0"/>
              </a:rPr>
              <a:t>EYETRACKMOUSE: A HANDS-FREE HUMAN-COMPUTER INTERACTION SYSTEM</a:t>
            </a:r>
            <a:br>
              <a:rPr lang="en-IN" sz="3200" dirty="0"/>
            </a:b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400" kern="100" dirty="0">
                <a:solidFill>
                  <a:schemeClr val="tx1">
                    <a:lumMod val="50000"/>
                  </a:schemeClr>
                </a:solidFill>
                <a:latin typeface="Times New Roman" panose="02020603050405020304" pitchFamily="18" charset="0"/>
                <a:ea typeface="Calibri" panose="020F0502020204030204" pitchFamily="34" charset="0"/>
                <a:cs typeface="Times New Roman" panose="02020603050405020304" pitchFamily="18" charset="0"/>
              </a:rPr>
              <a:t>Srudhan Eerla</a:t>
            </a:r>
            <a:br>
              <a:rPr lang="en-IN" sz="2400" kern="100" dirty="0">
                <a:solidFill>
                  <a:srgbClr val="00B0F0"/>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400" kern="100" dirty="0">
                <a:solidFill>
                  <a:srgbClr val="00B0F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400" kern="100" dirty="0">
                <a:solidFill>
                  <a:schemeClr val="tx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24MCB1002</a:t>
            </a:r>
            <a:endParaRPr lang="en-US" sz="2000" dirty="0">
              <a:solidFill>
                <a:schemeClr val="tx1">
                  <a:lumMod val="50000"/>
                </a:schemeClr>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5D333E8-8943-F73A-A57D-C79C5FFBCA0C}"/>
              </a:ext>
            </a:extLst>
          </p:cNvPr>
          <p:cNvSpPr txBox="1"/>
          <p:nvPr/>
        </p:nvSpPr>
        <p:spPr>
          <a:xfrm>
            <a:off x="6405161" y="4611287"/>
            <a:ext cx="6096000" cy="402482"/>
          </a:xfrm>
          <a:prstGeom prst="rect">
            <a:avLst/>
          </a:prstGeom>
          <a:noFill/>
        </p:spPr>
        <p:txBody>
          <a:bodyPr wrap="square">
            <a:spAutoFit/>
          </a:bodyPr>
          <a:lstStyle/>
          <a:p>
            <a:pPr marL="0" lvl="0" indent="0" algn="ctr">
              <a:lnSpc>
                <a:spcPts val="2595"/>
              </a:lnSpc>
            </a:pPr>
            <a:r>
              <a:rPr lang="en-US" sz="2000" b="1" dirty="0">
                <a:solidFill>
                  <a:schemeClr val="accent1">
                    <a:lumMod val="50000"/>
                  </a:schemeClr>
                </a:solidFill>
                <a:latin typeface="Times New Roman" panose="02020603050405020304" pitchFamily="18" charset="0"/>
                <a:cs typeface="Times New Roman" panose="02020603050405020304" pitchFamily="18" charset="0"/>
              </a:rPr>
              <a:t>Guide: Dr. S . Deepa Nivethika</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B3287-DC3E-D2D7-2A4A-7C88899EE076}"/>
              </a:ext>
            </a:extLst>
          </p:cNvPr>
          <p:cNvSpPr>
            <a:spLocks noGrp="1"/>
          </p:cNvSpPr>
          <p:nvPr>
            <p:ph type="title"/>
          </p:nvPr>
        </p:nvSpPr>
        <p:spPr/>
        <p:txBody>
          <a:bodyPr/>
          <a:lstStyle/>
          <a:p>
            <a:r>
              <a:rPr lang="en-US" sz="3500" dirty="0">
                <a:latin typeface="Times New Roman" panose="02020603050405020304" pitchFamily="18" charset="0"/>
                <a:cs typeface="Times New Roman" panose="02020603050405020304" pitchFamily="18" charset="0"/>
              </a:rPr>
              <a:t>INTRODUCTION</a:t>
            </a:r>
            <a:endParaRPr lang="en-IN" sz="35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9D599C7-CC12-C9BD-B010-52EC5B4C569E}"/>
              </a:ext>
            </a:extLst>
          </p:cNvPr>
          <p:cNvSpPr>
            <a:spLocks noGrp="1"/>
          </p:cNvSpPr>
          <p:nvPr>
            <p:ph sz="quarter" idx="13"/>
          </p:nvPr>
        </p:nvSpPr>
        <p:spPr>
          <a:xfrm>
            <a:off x="3166946" y="2348916"/>
            <a:ext cx="8196146" cy="3750802"/>
          </a:xfrm>
        </p:spPr>
        <p:txBody>
          <a:bodyPr/>
          <a:lstStyle/>
          <a:p>
            <a:pPr marL="0" indent="0" algn="just">
              <a:buNone/>
            </a:pPr>
            <a:r>
              <a:rPr lang="en-US" sz="2200" dirty="0">
                <a:latin typeface="Times New Roman" panose="02020603050405020304" pitchFamily="18" charset="0"/>
                <a:cs typeface="Times New Roman" panose="02020603050405020304" pitchFamily="18" charset="0"/>
              </a:rPr>
              <a:t>In today’s technology, controlling the cursor typically requires the use of a mouse or touchpad, which depends on hand or finger movements. This poses a major challenge for individuals with upper limb disabilities, such as amputees, who cannot operate these devices. To overcome this limitation, eye movement can serve as an alternative mode of control, where the direction of the eyeball is tracked and mapped to the cursor’s movement on the screen. Such an </a:t>
            </a:r>
            <a:r>
              <a:rPr lang="en-US" sz="2200" b="1" dirty="0">
                <a:latin typeface="Times New Roman" panose="02020603050405020304" pitchFamily="18" charset="0"/>
                <a:cs typeface="Times New Roman" panose="02020603050405020304" pitchFamily="18" charset="0"/>
              </a:rPr>
              <a:t>eye tracking mouse</a:t>
            </a:r>
            <a:r>
              <a:rPr lang="en-US" sz="2200" dirty="0">
                <a:latin typeface="Times New Roman" panose="02020603050405020304" pitchFamily="18" charset="0"/>
                <a:cs typeface="Times New Roman" panose="02020603050405020304" pitchFamily="18" charset="0"/>
              </a:rPr>
              <a:t> holds great significance as it enhances accessibility, promotes inclusivity, and empowers amputees to interact with digital systems independently.</a:t>
            </a:r>
          </a:p>
          <a:p>
            <a:pPr algn="just"/>
            <a:endParaRPr lang="en-IN" dirty="0"/>
          </a:p>
        </p:txBody>
      </p:sp>
    </p:spTree>
    <p:extLst>
      <p:ext uri="{BB962C8B-B14F-4D97-AF65-F5344CB8AC3E}">
        <p14:creationId xmlns:p14="http://schemas.microsoft.com/office/powerpoint/2010/main" val="3223238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4D033-8208-2EB7-1DF0-F888F3520CDF}"/>
              </a:ext>
            </a:extLst>
          </p:cNvPr>
          <p:cNvSpPr>
            <a:spLocks noGrp="1"/>
          </p:cNvSpPr>
          <p:nvPr>
            <p:ph type="title"/>
          </p:nvPr>
        </p:nvSpPr>
        <p:spPr/>
        <p:txBody>
          <a:bodyPr/>
          <a:lstStyle/>
          <a:p>
            <a:r>
              <a:rPr lang="en-US" sz="3500" dirty="0">
                <a:latin typeface="Times New Roman" panose="02020603050405020304" pitchFamily="18" charset="0"/>
                <a:cs typeface="Times New Roman" panose="02020603050405020304" pitchFamily="18" charset="0"/>
              </a:rPr>
              <a:t>PROBLEM STATEMENT</a:t>
            </a:r>
            <a:endParaRPr lang="en-IN" sz="35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A78D881-D088-7A7B-DC7F-BFBC1A510F9E}"/>
              </a:ext>
            </a:extLst>
          </p:cNvPr>
          <p:cNvSpPr>
            <a:spLocks noGrp="1"/>
          </p:cNvSpPr>
          <p:nvPr>
            <p:ph sz="quarter" idx="13"/>
          </p:nvPr>
        </p:nvSpPr>
        <p:spPr/>
        <p:txBody>
          <a:bodyPr>
            <a:normAutofit/>
          </a:bodyPr>
          <a:lstStyle/>
          <a:p>
            <a:pPr algn="just">
              <a:lnSpc>
                <a:spcPct val="100000"/>
              </a:lnSpc>
            </a:pPr>
            <a:r>
              <a:rPr lang="en-IN" sz="1800" dirty="0">
                <a:latin typeface="Times New Roman" panose="02020603050405020304" pitchFamily="18" charset="0"/>
                <a:cs typeface="Times New Roman" panose="02020603050405020304" pitchFamily="18" charset="0"/>
              </a:rPr>
              <a:t>In today’s computing environment, the computer mouse remains the primary device for cursor control. However, this creates significant accessibility challenges for people with physical disabilities such as amputees, quadriplegics, or individuals with impaired hand mobility, as they cannot operate traditional input devices. While some commercial eye-tracking systems exist, they are often expensive, require specialized hardware, and are not widely available. There is a need for a low-cost, hands-free, and user-friendly system that allows users to interact with a computer using only natural facial and eye movements. This project addresses that problem by developing a webcam-based eye tracking mouse, which enables cursor control and mouse actions through eye gestures, blinking, and head movements without the need for additional hardware.</a:t>
            </a:r>
          </a:p>
          <a:p>
            <a:pPr algn="just">
              <a:lnSpc>
                <a:spcPct val="100000"/>
              </a:lnSpc>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9176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82F20-280F-5403-630F-29EC54366A4F}"/>
              </a:ext>
            </a:extLst>
          </p:cNvPr>
          <p:cNvSpPr>
            <a:spLocks noGrp="1"/>
          </p:cNvSpPr>
          <p:nvPr>
            <p:ph type="title"/>
          </p:nvPr>
        </p:nvSpPr>
        <p:spPr/>
        <p:txBody>
          <a:bodyPr/>
          <a:lstStyle/>
          <a:p>
            <a:r>
              <a:rPr lang="en-US" sz="3500" dirty="0">
                <a:latin typeface="Times New Roman" panose="02020603050405020304" pitchFamily="18" charset="0"/>
                <a:cs typeface="Times New Roman" panose="02020603050405020304" pitchFamily="18" charset="0"/>
              </a:rPr>
              <a:t>RESEARCH OBJECTIVES</a:t>
            </a:r>
            <a:endParaRPr lang="en-IN" sz="3500" dirty="0">
              <a:latin typeface="Times New Roman" panose="02020603050405020304" pitchFamily="18" charset="0"/>
              <a:cs typeface="Times New Roman" panose="02020603050405020304" pitchFamily="18" charset="0"/>
            </a:endParaRPr>
          </a:p>
        </p:txBody>
      </p:sp>
      <p:sp>
        <p:nvSpPr>
          <p:cNvPr id="5" name="Content Placeholder 3">
            <a:extLst>
              <a:ext uri="{FF2B5EF4-FFF2-40B4-BE49-F238E27FC236}">
                <a16:creationId xmlns:a16="http://schemas.microsoft.com/office/drawing/2014/main" id="{10D20AA8-F448-2288-C822-209A96787F61}"/>
              </a:ext>
            </a:extLst>
          </p:cNvPr>
          <p:cNvSpPr>
            <a:spLocks noGrp="1"/>
          </p:cNvSpPr>
          <p:nvPr>
            <p:ph sz="quarter" idx="13"/>
          </p:nvPr>
        </p:nvSpPr>
        <p:spPr>
          <a:xfrm>
            <a:off x="701357" y="2504661"/>
            <a:ext cx="11231721" cy="3540539"/>
          </a:xfrm>
        </p:spPr>
        <p:txBody>
          <a:bodyPr>
            <a:noAutofit/>
          </a:bodyPr>
          <a:lstStyle/>
          <a:p>
            <a:pPr marL="342900" indent="-342900" algn="just">
              <a:lnSpc>
                <a:spcPct val="150000"/>
              </a:lnSpc>
              <a:spcBef>
                <a:spcPts val="600"/>
              </a:spcBef>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To design a hands-free mouse control system using facial landmarks and eye gestures.</a:t>
            </a:r>
          </a:p>
          <a:p>
            <a:pPr marL="342900" indent="-342900" algn="just">
              <a:lnSpc>
                <a:spcPct val="150000"/>
              </a:lnSpc>
              <a:spcBef>
                <a:spcPts val="600"/>
              </a:spcBef>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To implement real-time facial detection and tracking using Python libraries such as OpenCV and </a:t>
            </a:r>
            <a:r>
              <a:rPr lang="en-IN" sz="2200" dirty="0" err="1">
                <a:latin typeface="Times New Roman" panose="02020603050405020304" pitchFamily="18" charset="0"/>
                <a:cs typeface="Times New Roman" panose="02020603050405020304" pitchFamily="18" charset="0"/>
              </a:rPr>
              <a:t>Dlib</a:t>
            </a:r>
            <a:r>
              <a:rPr lang="en-IN" sz="2200" dirty="0">
                <a:latin typeface="Times New Roman" panose="02020603050405020304" pitchFamily="18" charset="0"/>
                <a:cs typeface="Times New Roman" panose="02020603050405020304" pitchFamily="18" charset="0"/>
              </a:rPr>
              <a:t>.</a:t>
            </a:r>
          </a:p>
          <a:p>
            <a:pPr marL="342900" indent="-342900" algn="just">
              <a:lnSpc>
                <a:spcPct val="150000"/>
              </a:lnSpc>
              <a:spcBef>
                <a:spcPts val="600"/>
              </a:spcBef>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To translate identified gestures into cursor operations like left click, right click, double click, and scroll.</a:t>
            </a:r>
          </a:p>
          <a:p>
            <a:pPr marL="342900" indent="-342900" algn="just">
              <a:lnSpc>
                <a:spcPct val="150000"/>
              </a:lnSpc>
              <a:spcBef>
                <a:spcPts val="600"/>
              </a:spcBef>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To develop a low-cost, software-based solution that eliminates the need for external hardware.</a:t>
            </a:r>
          </a:p>
          <a:p>
            <a:pPr marL="342900" indent="-342900" algn="just">
              <a:lnSpc>
                <a:spcPct val="150000"/>
              </a:lnSpc>
              <a:spcBef>
                <a:spcPts val="600"/>
              </a:spcBef>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To enhance human–computer interaction for users with physical disabilities or limited mobility.</a:t>
            </a:r>
          </a:p>
        </p:txBody>
      </p:sp>
    </p:spTree>
    <p:extLst>
      <p:ext uri="{BB962C8B-B14F-4D97-AF65-F5344CB8AC3E}">
        <p14:creationId xmlns:p14="http://schemas.microsoft.com/office/powerpoint/2010/main" val="2611945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E4DD4-15E2-44B1-C6A3-BD7E428FAB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7EAF78-BBD8-E81E-16AC-60E1300C7662}"/>
              </a:ext>
            </a:extLst>
          </p:cNvPr>
          <p:cNvSpPr>
            <a:spLocks noGrp="1"/>
          </p:cNvSpPr>
          <p:nvPr>
            <p:ph type="title"/>
          </p:nvPr>
        </p:nvSpPr>
        <p:spPr/>
        <p:txBody>
          <a:bodyPr/>
          <a:lstStyle/>
          <a:p>
            <a:r>
              <a:rPr lang="en-US" sz="3500" dirty="0">
                <a:latin typeface="Times New Roman" panose="02020603050405020304" pitchFamily="18" charset="0"/>
                <a:cs typeface="Times New Roman" panose="02020603050405020304" pitchFamily="18" charset="0"/>
              </a:rPr>
              <a:t>PROPOSED SYSTEM</a:t>
            </a:r>
            <a:endParaRPr lang="en-IN" sz="3500" dirty="0">
              <a:latin typeface="Times New Roman" panose="02020603050405020304" pitchFamily="18" charset="0"/>
              <a:cs typeface="Times New Roman" panose="02020603050405020304" pitchFamily="18" charset="0"/>
            </a:endParaRPr>
          </a:p>
        </p:txBody>
      </p:sp>
      <p:sp>
        <p:nvSpPr>
          <p:cNvPr id="5" name="Content Placeholder 3">
            <a:extLst>
              <a:ext uri="{FF2B5EF4-FFF2-40B4-BE49-F238E27FC236}">
                <a16:creationId xmlns:a16="http://schemas.microsoft.com/office/drawing/2014/main" id="{BFAF3122-B5C1-8B97-D3B1-8376CA617E05}"/>
              </a:ext>
            </a:extLst>
          </p:cNvPr>
          <p:cNvSpPr>
            <a:spLocks noGrp="1"/>
          </p:cNvSpPr>
          <p:nvPr>
            <p:ph sz="quarter" idx="13"/>
          </p:nvPr>
        </p:nvSpPr>
        <p:spPr>
          <a:xfrm>
            <a:off x="960279" y="2447925"/>
            <a:ext cx="10423338" cy="4310684"/>
          </a:xfrm>
        </p:spPr>
        <p:txBody>
          <a:bodyPr>
            <a:normAutofit fontScale="25000" lnSpcReduction="20000"/>
          </a:bodyPr>
          <a:lstStyle/>
          <a:p>
            <a:pPr marL="342900" indent="-342900" algn="just">
              <a:lnSpc>
                <a:spcPct val="150000"/>
              </a:lnSpc>
              <a:spcBef>
                <a:spcPts val="600"/>
              </a:spcBef>
              <a:buFont typeface="Arial" panose="020B0604020202020204" pitchFamily="34" charset="0"/>
              <a:buChar char="•"/>
            </a:pPr>
            <a:r>
              <a:rPr lang="en-US" sz="8400" dirty="0">
                <a:latin typeface="Times New Roman" panose="02020603050405020304" pitchFamily="18" charset="0"/>
                <a:cs typeface="Times New Roman" panose="02020603050405020304" pitchFamily="18" charset="0"/>
              </a:rPr>
              <a:t>A vision-based mouse control system that uses facial landmarks and eye gestures to perform mouse operations.</a:t>
            </a:r>
          </a:p>
          <a:p>
            <a:pPr marL="342900" indent="-342900" algn="just">
              <a:lnSpc>
                <a:spcPct val="150000"/>
              </a:lnSpc>
              <a:spcBef>
                <a:spcPts val="600"/>
              </a:spcBef>
              <a:buFont typeface="Arial" panose="020B0604020202020204" pitchFamily="34" charset="0"/>
              <a:buChar char="•"/>
            </a:pPr>
            <a:r>
              <a:rPr lang="en-US" sz="8400" dirty="0">
                <a:latin typeface="Times New Roman" panose="02020603050405020304" pitchFamily="18" charset="0"/>
                <a:cs typeface="Times New Roman" panose="02020603050405020304" pitchFamily="18" charset="0"/>
              </a:rPr>
              <a:t>Works in real time using a webcam to track eye blinks and mouth movements.</a:t>
            </a:r>
          </a:p>
          <a:p>
            <a:pPr marL="342900" indent="-342900" algn="just">
              <a:lnSpc>
                <a:spcPct val="150000"/>
              </a:lnSpc>
              <a:spcBef>
                <a:spcPts val="600"/>
              </a:spcBef>
              <a:buFont typeface="Arial" panose="020B0604020202020204" pitchFamily="34" charset="0"/>
              <a:buChar char="•"/>
            </a:pPr>
            <a:r>
              <a:rPr lang="en-US" sz="8400" dirty="0">
                <a:latin typeface="Times New Roman" panose="02020603050405020304" pitchFamily="18" charset="0"/>
                <a:cs typeface="Times New Roman" panose="02020603050405020304" pitchFamily="18" charset="0"/>
              </a:rPr>
              <a:t>Uses OpenCV for image and video processing, and </a:t>
            </a:r>
            <a:r>
              <a:rPr lang="en-US" sz="8400" dirty="0" err="1">
                <a:latin typeface="Times New Roman" panose="02020603050405020304" pitchFamily="18" charset="0"/>
                <a:cs typeface="Times New Roman" panose="02020603050405020304" pitchFamily="18" charset="0"/>
              </a:rPr>
              <a:t>Dlib</a:t>
            </a:r>
            <a:r>
              <a:rPr lang="en-US" sz="8400" dirty="0">
                <a:latin typeface="Times New Roman" panose="02020603050405020304" pitchFamily="18" charset="0"/>
                <a:cs typeface="Times New Roman" panose="02020603050405020304" pitchFamily="18" charset="0"/>
              </a:rPr>
              <a:t> for facial landmark detection.</a:t>
            </a:r>
          </a:p>
          <a:p>
            <a:pPr marL="342900" indent="-342900" algn="just">
              <a:lnSpc>
                <a:spcPct val="150000"/>
              </a:lnSpc>
              <a:spcBef>
                <a:spcPts val="600"/>
              </a:spcBef>
              <a:buFont typeface="Arial" panose="020B0604020202020204" pitchFamily="34" charset="0"/>
              <a:buChar char="•"/>
            </a:pPr>
            <a:r>
              <a:rPr lang="en-US" sz="8400" dirty="0">
                <a:latin typeface="Times New Roman" panose="02020603050405020304" pitchFamily="18" charset="0"/>
                <a:cs typeface="Times New Roman" panose="02020603050405020304" pitchFamily="18" charset="0"/>
              </a:rPr>
              <a:t>Calculates Eye Aspect Ratio (EAR) and Mouth Aspect Ratio (MAR) to identify user gestures.</a:t>
            </a:r>
          </a:p>
          <a:p>
            <a:pPr marL="342900" indent="-342900" algn="just">
              <a:lnSpc>
                <a:spcPct val="150000"/>
              </a:lnSpc>
              <a:spcBef>
                <a:spcPts val="600"/>
              </a:spcBef>
              <a:buFont typeface="Arial" panose="020B0604020202020204" pitchFamily="34" charset="0"/>
              <a:buChar char="•"/>
            </a:pPr>
            <a:r>
              <a:rPr lang="en-US" sz="8400" dirty="0">
                <a:latin typeface="Times New Roman" panose="02020603050405020304" pitchFamily="18" charset="0"/>
                <a:cs typeface="Times New Roman" panose="02020603050405020304" pitchFamily="18" charset="0"/>
              </a:rPr>
              <a:t>Performs mouse actions such as left click, right click, double click, and scroll using </a:t>
            </a:r>
            <a:r>
              <a:rPr lang="en-US" sz="8400" dirty="0" err="1">
                <a:latin typeface="Times New Roman" panose="02020603050405020304" pitchFamily="18" charset="0"/>
                <a:cs typeface="Times New Roman" panose="02020603050405020304" pitchFamily="18" charset="0"/>
              </a:rPr>
              <a:t>PyAutoGUI</a:t>
            </a:r>
            <a:r>
              <a:rPr lang="en-US" sz="8400" dirty="0">
                <a:latin typeface="Times New Roman" panose="02020603050405020304" pitchFamily="18" charset="0"/>
                <a:cs typeface="Times New Roman" panose="02020603050405020304" pitchFamily="18" charset="0"/>
              </a:rPr>
              <a:t>.</a:t>
            </a:r>
          </a:p>
          <a:p>
            <a:pPr marL="342900" indent="-342900" algn="just">
              <a:lnSpc>
                <a:spcPct val="150000"/>
              </a:lnSpc>
              <a:spcBef>
                <a:spcPts val="600"/>
              </a:spcBef>
              <a:buFont typeface="Arial" panose="020B0604020202020204" pitchFamily="34" charset="0"/>
              <a:buChar char="•"/>
            </a:pPr>
            <a:r>
              <a:rPr lang="en-US" sz="8400" dirty="0">
                <a:latin typeface="Times New Roman" panose="02020603050405020304" pitchFamily="18" charset="0"/>
                <a:cs typeface="Times New Roman" panose="02020603050405020304" pitchFamily="18" charset="0"/>
              </a:rPr>
              <a:t>Provides a hands-free and cost-effective solution without the need for external sensors.</a:t>
            </a:r>
          </a:p>
          <a:p>
            <a:pPr algn="just">
              <a:lnSpc>
                <a:spcPct val="150000"/>
              </a:lnSpc>
              <a:spcBef>
                <a:spcPts val="600"/>
              </a:spcBef>
            </a:pPr>
            <a:endParaRPr lang="en-US" sz="2200" dirty="0">
              <a:latin typeface="Times New Roman" panose="02020603050405020304" pitchFamily="18" charset="0"/>
              <a:cs typeface="Times New Roman" panose="02020603050405020304" pitchFamily="18" charset="0"/>
            </a:endParaRPr>
          </a:p>
          <a:p>
            <a:pPr algn="just">
              <a:lnSpc>
                <a:spcPct val="150000"/>
              </a:lnSpc>
              <a:spcBef>
                <a:spcPts val="600"/>
              </a:spcBef>
            </a:pPr>
            <a:endParaRPr lang="en-US" sz="8800" dirty="0">
              <a:latin typeface="Times New Roman" panose="02020603050405020304" pitchFamily="18" charset="0"/>
              <a:cs typeface="Times New Roman" panose="02020603050405020304" pitchFamily="18" charset="0"/>
            </a:endParaRPr>
          </a:p>
          <a:p>
            <a:pPr marL="342900" indent="-342900" algn="just">
              <a:lnSpc>
                <a:spcPct val="150000"/>
              </a:lnSpc>
              <a:spcBef>
                <a:spcPts val="600"/>
              </a:spcBef>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164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8488A-E72A-875A-BB6C-7F87A748D990}"/>
              </a:ext>
            </a:extLst>
          </p:cNvPr>
          <p:cNvSpPr>
            <a:spLocks noGrp="1"/>
          </p:cNvSpPr>
          <p:nvPr>
            <p:ph type="title"/>
          </p:nvPr>
        </p:nvSpPr>
        <p:spPr>
          <a:xfrm>
            <a:off x="594360" y="350520"/>
            <a:ext cx="2499360" cy="1432560"/>
          </a:xfrm>
        </p:spPr>
        <p:txBody>
          <a:bodyPr/>
          <a:lstStyle/>
          <a:p>
            <a:r>
              <a:rPr lang="en-US" sz="3500" dirty="0">
                <a:latin typeface="Times New Roman" panose="02020603050405020304" pitchFamily="18" charset="0"/>
                <a:cs typeface="Times New Roman" panose="02020603050405020304" pitchFamily="18" charset="0"/>
              </a:rPr>
              <a:t>BLOCK </a:t>
            </a:r>
            <a:br>
              <a:rPr lang="en-US" sz="3500" dirty="0">
                <a:latin typeface="Times New Roman" panose="02020603050405020304" pitchFamily="18" charset="0"/>
                <a:cs typeface="Times New Roman" panose="02020603050405020304" pitchFamily="18" charset="0"/>
              </a:rPr>
            </a:br>
            <a:r>
              <a:rPr lang="en-US" sz="3500" dirty="0">
                <a:latin typeface="Times New Roman" panose="02020603050405020304" pitchFamily="18" charset="0"/>
                <a:cs typeface="Times New Roman" panose="02020603050405020304" pitchFamily="18" charset="0"/>
              </a:rPr>
              <a:t>DIAGRAM</a:t>
            </a:r>
            <a:endParaRPr lang="en-IN" sz="3500" dirty="0">
              <a:latin typeface="Times New Roman" panose="02020603050405020304" pitchFamily="18" charset="0"/>
              <a:cs typeface="Times New Roman" panose="02020603050405020304" pitchFamily="18" charset="0"/>
            </a:endParaRPr>
          </a:p>
        </p:txBody>
      </p:sp>
      <p:sp>
        <p:nvSpPr>
          <p:cNvPr id="9" name="AutoShape 8">
            <a:extLst>
              <a:ext uri="{FF2B5EF4-FFF2-40B4-BE49-F238E27FC236}">
                <a16:creationId xmlns:a16="http://schemas.microsoft.com/office/drawing/2014/main" id="{8AC9AC46-4DC9-F3DF-07A6-BFBF8CFBC3B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4">
            <a:extLst>
              <a:ext uri="{FF2B5EF4-FFF2-40B4-BE49-F238E27FC236}">
                <a16:creationId xmlns:a16="http://schemas.microsoft.com/office/drawing/2014/main" id="{77059065-24B9-3B13-87C2-24EEB75760E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86EEE0A9-34FF-7E60-06DF-3CAE520279A1}"/>
              </a:ext>
            </a:extLst>
          </p:cNvPr>
          <p:cNvPicPr>
            <a:picLocks noChangeAspect="1"/>
          </p:cNvPicPr>
          <p:nvPr/>
        </p:nvPicPr>
        <p:blipFill>
          <a:blip r:embed="rId2"/>
          <a:stretch>
            <a:fillRect/>
          </a:stretch>
        </p:blipFill>
        <p:spPr>
          <a:xfrm>
            <a:off x="3650312" y="1955358"/>
            <a:ext cx="6964680" cy="4497203"/>
          </a:xfrm>
          <a:prstGeom prst="rect">
            <a:avLst/>
          </a:prstGeom>
        </p:spPr>
      </p:pic>
    </p:spTree>
    <p:extLst>
      <p:ext uri="{BB962C8B-B14F-4D97-AF65-F5344CB8AC3E}">
        <p14:creationId xmlns:p14="http://schemas.microsoft.com/office/powerpoint/2010/main" val="3862516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D16E6-632B-C782-BA31-008D2FB173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681BB2-8542-A918-E600-8A7CE8EDD411}"/>
              </a:ext>
            </a:extLst>
          </p:cNvPr>
          <p:cNvSpPr>
            <a:spLocks noGrp="1"/>
          </p:cNvSpPr>
          <p:nvPr>
            <p:ph type="title"/>
          </p:nvPr>
        </p:nvSpPr>
        <p:spPr/>
        <p:txBody>
          <a:bodyPr/>
          <a:lstStyle/>
          <a:p>
            <a:r>
              <a:rPr lang="en-IN" sz="3500" dirty="0">
                <a:latin typeface="Times New Roman" panose="02020603050405020304" pitchFamily="18" charset="0"/>
                <a:cs typeface="Times New Roman" panose="02020603050405020304" pitchFamily="18" charset="0"/>
              </a:rPr>
              <a:t>LIST OF MODULES</a:t>
            </a:r>
          </a:p>
        </p:txBody>
      </p:sp>
      <p:sp>
        <p:nvSpPr>
          <p:cNvPr id="5" name="Content Placeholder 3">
            <a:extLst>
              <a:ext uri="{FF2B5EF4-FFF2-40B4-BE49-F238E27FC236}">
                <a16:creationId xmlns:a16="http://schemas.microsoft.com/office/drawing/2014/main" id="{D189EE3D-7FF7-CD1C-3754-862CF0B84F6D}"/>
              </a:ext>
            </a:extLst>
          </p:cNvPr>
          <p:cNvSpPr>
            <a:spLocks noGrp="1"/>
          </p:cNvSpPr>
          <p:nvPr>
            <p:ph sz="quarter" idx="13"/>
          </p:nvPr>
        </p:nvSpPr>
        <p:spPr>
          <a:xfrm>
            <a:off x="1421832" y="2651473"/>
            <a:ext cx="9616281" cy="4008119"/>
          </a:xfrm>
        </p:spPr>
        <p:txBody>
          <a:bodyPr>
            <a:noAutofit/>
          </a:bodyPr>
          <a:lstStyle/>
          <a:p>
            <a:pPr marL="342900" indent="-342900" algn="just">
              <a:lnSpc>
                <a:spcPct val="100000"/>
              </a:lnSpc>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OpenCV -</a:t>
            </a:r>
            <a:r>
              <a:rPr lang="en-IN" sz="2400" dirty="0">
                <a:latin typeface="Times New Roman" panose="02020603050405020304" pitchFamily="18" charset="0"/>
                <a:cs typeface="Times New Roman" panose="02020603050405020304" pitchFamily="18" charset="0"/>
              </a:rPr>
              <a:t>for image capture, frame processing, and visualization.</a:t>
            </a:r>
          </a:p>
          <a:p>
            <a:pPr algn="just">
              <a:lnSpc>
                <a:spcPct val="100000"/>
              </a:lnSpc>
              <a:spcBef>
                <a:spcPts val="600"/>
              </a:spcBef>
            </a:pPr>
            <a:endParaRPr lang="en-US" sz="2400" dirty="0">
              <a:latin typeface="Times New Roman" panose="02020603050405020304" pitchFamily="18" charset="0"/>
              <a:cs typeface="Times New Roman" panose="02020603050405020304" pitchFamily="18" charset="0"/>
            </a:endParaRPr>
          </a:p>
          <a:p>
            <a:pPr marL="342900" indent="-342900" algn="just">
              <a:lnSpc>
                <a:spcPct val="100000"/>
              </a:lnSpc>
              <a:spcBef>
                <a:spcPts val="600"/>
              </a:spcBef>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Dlib</a:t>
            </a:r>
            <a:r>
              <a:rPr lang="en-US" sz="24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 for face and landmark detection.</a:t>
            </a:r>
          </a:p>
          <a:p>
            <a:pPr algn="just">
              <a:lnSpc>
                <a:spcPct val="100000"/>
              </a:lnSpc>
              <a:spcBef>
                <a:spcPts val="600"/>
              </a:spcBef>
            </a:pPr>
            <a:endParaRPr lang="en-US" sz="2400" dirty="0">
              <a:latin typeface="Times New Roman" panose="02020603050405020304" pitchFamily="18" charset="0"/>
              <a:cs typeface="Times New Roman" panose="02020603050405020304" pitchFamily="18" charset="0"/>
            </a:endParaRPr>
          </a:p>
          <a:p>
            <a:pPr marL="342900" indent="-342900" algn="just">
              <a:lnSpc>
                <a:spcPct val="100000"/>
              </a:lnSpc>
              <a:spcBef>
                <a:spcPts val="600"/>
              </a:spcBef>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Imultils</a:t>
            </a:r>
            <a:r>
              <a:rPr lang="en-US" sz="24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 for simplifying landmark extraction and frame operations.</a:t>
            </a:r>
            <a:endParaRPr lang="en-US" sz="2400" dirty="0">
              <a:latin typeface="Times New Roman" panose="02020603050405020304" pitchFamily="18" charset="0"/>
              <a:cs typeface="Times New Roman" panose="02020603050405020304" pitchFamily="18" charset="0"/>
            </a:endParaRPr>
          </a:p>
          <a:p>
            <a:pPr algn="just">
              <a:lnSpc>
                <a:spcPct val="100000"/>
              </a:lnSpc>
              <a:spcBef>
                <a:spcPts val="600"/>
              </a:spcBef>
            </a:pPr>
            <a:endParaRPr lang="en-US" sz="2400" dirty="0">
              <a:latin typeface="Times New Roman" panose="02020603050405020304" pitchFamily="18" charset="0"/>
              <a:cs typeface="Times New Roman" panose="02020603050405020304" pitchFamily="18" charset="0"/>
            </a:endParaRPr>
          </a:p>
          <a:p>
            <a:pPr marL="342900" indent="-342900" algn="just">
              <a:lnSpc>
                <a:spcPct val="100000"/>
              </a:lnSpc>
              <a:spcBef>
                <a:spcPts val="600"/>
              </a:spcBef>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PyAutoGUI</a:t>
            </a:r>
            <a:r>
              <a:rPr lang="en-US" sz="24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 for controlling cursor movement and clicks.</a:t>
            </a:r>
          </a:p>
          <a:p>
            <a:pPr marL="342900" indent="-342900" algn="just">
              <a:lnSpc>
                <a:spcPct val="100000"/>
              </a:lnSpc>
              <a:spcBef>
                <a:spcPts val="600"/>
              </a:spcBef>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2698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B4E07-D077-DC30-30D3-56B2E0EF68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6DAADB-A538-00D2-E8C6-450CE8900DAA}"/>
              </a:ext>
            </a:extLst>
          </p:cNvPr>
          <p:cNvSpPr>
            <a:spLocks noGrp="1"/>
          </p:cNvSpPr>
          <p:nvPr>
            <p:ph type="title"/>
          </p:nvPr>
        </p:nvSpPr>
        <p:spPr/>
        <p:txBody>
          <a:bodyPr/>
          <a:lstStyle/>
          <a:p>
            <a:r>
              <a:rPr lang="en-US" sz="3500" dirty="0">
                <a:latin typeface="Times New Roman" panose="02020603050405020304" pitchFamily="18" charset="0"/>
                <a:cs typeface="Times New Roman" panose="02020603050405020304" pitchFamily="18" charset="0"/>
              </a:rPr>
              <a:t>MODULES</a:t>
            </a:r>
            <a:endParaRPr lang="en-IN" sz="3500" dirty="0">
              <a:latin typeface="Times New Roman" panose="02020603050405020304" pitchFamily="18" charset="0"/>
              <a:cs typeface="Times New Roman" panose="02020603050405020304" pitchFamily="18" charset="0"/>
            </a:endParaRPr>
          </a:p>
        </p:txBody>
      </p:sp>
      <p:sp>
        <p:nvSpPr>
          <p:cNvPr id="5" name="Content Placeholder 3">
            <a:extLst>
              <a:ext uri="{FF2B5EF4-FFF2-40B4-BE49-F238E27FC236}">
                <a16:creationId xmlns:a16="http://schemas.microsoft.com/office/drawing/2014/main" id="{5DC44F98-A770-ABB6-6BAA-8FDF2A0EB8E7}"/>
              </a:ext>
            </a:extLst>
          </p:cNvPr>
          <p:cNvSpPr>
            <a:spLocks noGrp="1"/>
          </p:cNvSpPr>
          <p:nvPr>
            <p:ph sz="quarter" idx="13"/>
          </p:nvPr>
        </p:nvSpPr>
        <p:spPr>
          <a:xfrm>
            <a:off x="1258388" y="2481944"/>
            <a:ext cx="10308772" cy="3962400"/>
          </a:xfrm>
        </p:spPr>
        <p:txBody>
          <a:bodyPr>
            <a:noAutofit/>
          </a:bodyPr>
          <a:lstStyle/>
          <a:p>
            <a:r>
              <a:rPr lang="en-IN" sz="2200" b="1" dirty="0">
                <a:latin typeface="Times New Roman" panose="02020603050405020304" pitchFamily="18" charset="0"/>
                <a:cs typeface="Times New Roman" panose="02020603050405020304" pitchFamily="18" charset="0"/>
              </a:rPr>
              <a:t>OpenCV Module:</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Captures frames from the webcam (cv2.VideoCapture()).</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Handles all </a:t>
            </a:r>
            <a:r>
              <a:rPr lang="en-IN" b="1" dirty="0">
                <a:latin typeface="Times New Roman" panose="02020603050405020304" pitchFamily="18" charset="0"/>
                <a:cs typeface="Times New Roman" panose="02020603050405020304" pitchFamily="18" charset="0"/>
              </a:rPr>
              <a:t>image processing</a:t>
            </a:r>
            <a:r>
              <a:rPr lang="en-IN" dirty="0">
                <a:latin typeface="Times New Roman" panose="02020603050405020304" pitchFamily="18" charset="0"/>
                <a:cs typeface="Times New Roman" panose="02020603050405020304" pitchFamily="18" charset="0"/>
              </a:rPr>
              <a:t> parts of the project.</a:t>
            </a:r>
          </a:p>
          <a:p>
            <a:endParaRPr lang="en-IN" b="1" dirty="0">
              <a:latin typeface="Times New Roman" panose="02020603050405020304" pitchFamily="18" charset="0"/>
              <a:cs typeface="Times New Roman" panose="02020603050405020304" pitchFamily="18" charset="0"/>
            </a:endParaRPr>
          </a:p>
          <a:p>
            <a:r>
              <a:rPr lang="en-IN" sz="2200" b="1" dirty="0" err="1">
                <a:latin typeface="Times New Roman" panose="02020603050405020304" pitchFamily="18" charset="0"/>
                <a:cs typeface="Times New Roman" panose="02020603050405020304" pitchFamily="18" charset="0"/>
              </a:rPr>
              <a:t>Dlib</a:t>
            </a:r>
            <a:r>
              <a:rPr lang="en-IN" sz="2200" b="1" dirty="0">
                <a:latin typeface="Times New Roman" panose="02020603050405020304" pitchFamily="18" charset="0"/>
                <a:cs typeface="Times New Roman" panose="02020603050405020304" pitchFamily="18" charset="0"/>
              </a:rPr>
              <a:t> Module:</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Detects </a:t>
            </a:r>
            <a:r>
              <a:rPr lang="en-IN" b="1" dirty="0">
                <a:latin typeface="Times New Roman" panose="02020603050405020304" pitchFamily="18" charset="0"/>
                <a:cs typeface="Times New Roman" panose="02020603050405020304" pitchFamily="18" charset="0"/>
              </a:rPr>
              <a:t>face regions</a:t>
            </a:r>
            <a:r>
              <a:rPr lang="en-IN" dirty="0">
                <a:latin typeface="Times New Roman" panose="02020603050405020304" pitchFamily="18" charset="0"/>
                <a:cs typeface="Times New Roman" panose="02020603050405020304" pitchFamily="18" charset="0"/>
              </a:rPr>
              <a:t> in video frames.</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Uses </a:t>
            </a:r>
            <a:r>
              <a:rPr lang="en-IN" b="1" dirty="0">
                <a:latin typeface="Times New Roman" panose="02020603050405020304" pitchFamily="18" charset="0"/>
                <a:cs typeface="Times New Roman" panose="02020603050405020304" pitchFamily="18" charset="0"/>
              </a:rPr>
              <a:t>shape_predictor_68_face_landmarks.dat</a:t>
            </a:r>
            <a:r>
              <a:rPr lang="en-IN" dirty="0">
                <a:latin typeface="Times New Roman" panose="02020603050405020304" pitchFamily="18" charset="0"/>
                <a:cs typeface="Times New Roman" panose="02020603050405020304" pitchFamily="18" charset="0"/>
              </a:rPr>
              <a:t> for facial landmark detection.</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Provides precise coordinates of eyes, nose, and mouth.</a:t>
            </a:r>
            <a:endParaRPr lang="en-IN" sz="2200" dirty="0">
              <a:latin typeface="Times New Roman" panose="02020603050405020304" pitchFamily="18" charset="0"/>
              <a:cs typeface="Times New Roman" panose="02020603050405020304" pitchFamily="18" charset="0"/>
            </a:endParaRPr>
          </a:p>
          <a:p>
            <a:pPr marL="342900" indent="-342900" algn="just">
              <a:lnSpc>
                <a:spcPts val="2640"/>
              </a:lnSpc>
              <a:spcBef>
                <a:spcPts val="1200"/>
              </a:spcBef>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6454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51D21-AD08-3910-12E2-35CB90F709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67091A-ABDC-FA88-8FDB-35F7756FE75C}"/>
              </a:ext>
            </a:extLst>
          </p:cNvPr>
          <p:cNvSpPr>
            <a:spLocks noGrp="1"/>
          </p:cNvSpPr>
          <p:nvPr>
            <p:ph type="title"/>
          </p:nvPr>
        </p:nvSpPr>
        <p:spPr/>
        <p:txBody>
          <a:bodyPr/>
          <a:lstStyle/>
          <a:p>
            <a:r>
              <a:rPr lang="en-US" sz="3500" dirty="0">
                <a:latin typeface="Times New Roman" panose="02020603050405020304" pitchFamily="18" charset="0"/>
                <a:cs typeface="Times New Roman" panose="02020603050405020304" pitchFamily="18" charset="0"/>
              </a:rPr>
              <a:t>MODULES</a:t>
            </a:r>
            <a:endParaRPr lang="en-IN" sz="3500" dirty="0">
              <a:latin typeface="Times New Roman" panose="02020603050405020304" pitchFamily="18" charset="0"/>
              <a:cs typeface="Times New Roman" panose="02020603050405020304" pitchFamily="18" charset="0"/>
            </a:endParaRPr>
          </a:p>
        </p:txBody>
      </p:sp>
      <p:sp>
        <p:nvSpPr>
          <p:cNvPr id="5" name="Content Placeholder 3">
            <a:extLst>
              <a:ext uri="{FF2B5EF4-FFF2-40B4-BE49-F238E27FC236}">
                <a16:creationId xmlns:a16="http://schemas.microsoft.com/office/drawing/2014/main" id="{94DD15AE-0206-1028-D394-C744597D7F0F}"/>
              </a:ext>
            </a:extLst>
          </p:cNvPr>
          <p:cNvSpPr>
            <a:spLocks noGrp="1"/>
          </p:cNvSpPr>
          <p:nvPr>
            <p:ph sz="quarter" idx="13"/>
          </p:nvPr>
        </p:nvSpPr>
        <p:spPr>
          <a:xfrm>
            <a:off x="1326198" y="2421488"/>
            <a:ext cx="10240962" cy="3924883"/>
          </a:xfrm>
        </p:spPr>
        <p:txBody>
          <a:bodyPr>
            <a:noAutofit/>
          </a:bodyPr>
          <a:lstStyle/>
          <a:p>
            <a:r>
              <a:rPr lang="en-IN" sz="2200" b="1" dirty="0" err="1">
                <a:latin typeface="Times New Roman" panose="02020603050405020304" pitchFamily="18" charset="0"/>
                <a:cs typeface="Times New Roman" panose="02020603050405020304" pitchFamily="18" charset="0"/>
              </a:rPr>
              <a:t>Imutils</a:t>
            </a:r>
            <a:r>
              <a:rPr lang="en-IN" sz="2200" b="1" dirty="0">
                <a:latin typeface="Times New Roman" panose="02020603050405020304" pitchFamily="18" charset="0"/>
                <a:cs typeface="Times New Roman" panose="02020603050405020304" pitchFamily="18" charset="0"/>
              </a:rPr>
              <a:t> Module:</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Simplifies OpenCV operations like resizing and landmark mapping.</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Provides </a:t>
            </a:r>
            <a:r>
              <a:rPr lang="en-IN" dirty="0" err="1">
                <a:latin typeface="Times New Roman" panose="02020603050405020304" pitchFamily="18" charset="0"/>
                <a:cs typeface="Times New Roman" panose="02020603050405020304" pitchFamily="18" charset="0"/>
              </a:rPr>
              <a:t>face_utils</a:t>
            </a:r>
            <a:r>
              <a:rPr lang="en-IN" dirty="0">
                <a:latin typeface="Times New Roman" panose="02020603050405020304" pitchFamily="18" charset="0"/>
                <a:cs typeface="Times New Roman" panose="02020603050405020304" pitchFamily="18" charset="0"/>
              </a:rPr>
              <a:t> to extract eye, nose, and mouth coordinates easily.</a:t>
            </a:r>
          </a:p>
          <a:p>
            <a:endParaRPr lang="en-IN" sz="1600"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 </a:t>
            </a:r>
            <a:r>
              <a:rPr lang="en-IN" sz="2200" b="1" dirty="0" err="1">
                <a:latin typeface="Times New Roman" panose="02020603050405020304" pitchFamily="18" charset="0"/>
                <a:cs typeface="Times New Roman" panose="02020603050405020304" pitchFamily="18" charset="0"/>
              </a:rPr>
              <a:t>PyAutoGUI</a:t>
            </a:r>
            <a:r>
              <a:rPr lang="en-IN" sz="2200" b="1" dirty="0">
                <a:latin typeface="Times New Roman" panose="02020603050405020304" pitchFamily="18" charset="0"/>
                <a:cs typeface="Times New Roman" panose="02020603050405020304" pitchFamily="18" charset="0"/>
              </a:rPr>
              <a:t> Module:</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Used to control the </a:t>
            </a:r>
            <a:r>
              <a:rPr lang="en-IN" b="1" dirty="0">
                <a:latin typeface="Times New Roman" panose="02020603050405020304" pitchFamily="18" charset="0"/>
                <a:cs typeface="Times New Roman" panose="02020603050405020304" pitchFamily="18" charset="0"/>
              </a:rPr>
              <a:t>mouse</a:t>
            </a:r>
            <a:r>
              <a:rPr lang="en-IN" dirty="0">
                <a:latin typeface="Times New Roman" panose="02020603050405020304" pitchFamily="18" charset="0"/>
                <a:cs typeface="Times New Roman" panose="02020603050405020304" pitchFamily="18" charset="0"/>
              </a:rPr>
              <a:t> (move, click, scroll).</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Functions used: </a:t>
            </a:r>
            <a:r>
              <a:rPr lang="en-IN" dirty="0" err="1">
                <a:latin typeface="Times New Roman" panose="02020603050405020304" pitchFamily="18" charset="0"/>
                <a:cs typeface="Times New Roman" panose="02020603050405020304" pitchFamily="18" charset="0"/>
              </a:rPr>
              <a:t>moveRel</a:t>
            </a:r>
            <a:r>
              <a:rPr lang="en-IN" dirty="0">
                <a:latin typeface="Times New Roman" panose="02020603050405020304" pitchFamily="18" charset="0"/>
                <a:cs typeface="Times New Roman" panose="02020603050405020304" pitchFamily="18" charset="0"/>
              </a:rPr>
              <a:t>(), click(), scroll().</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Converts gesture detections into real mouse actions.</a:t>
            </a:r>
          </a:p>
          <a:p>
            <a:pPr algn="just">
              <a:lnSpc>
                <a:spcPts val="2640"/>
              </a:lnSpc>
              <a:spcBef>
                <a:spcPts val="1200"/>
              </a:spcBef>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90474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61BB1-0D70-CA12-E396-31298B3A59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666984-9E24-C987-579F-8912A8AEDD9A}"/>
              </a:ext>
            </a:extLst>
          </p:cNvPr>
          <p:cNvSpPr>
            <a:spLocks noGrp="1"/>
          </p:cNvSpPr>
          <p:nvPr>
            <p:ph type="title"/>
          </p:nvPr>
        </p:nvSpPr>
        <p:spPr/>
        <p:txBody>
          <a:bodyPr/>
          <a:lstStyle/>
          <a:p>
            <a:r>
              <a:rPr lang="en-IN" sz="3500" dirty="0">
                <a:latin typeface="Times New Roman" panose="02020603050405020304" pitchFamily="18" charset="0"/>
                <a:cs typeface="Times New Roman" panose="02020603050405020304" pitchFamily="18" charset="0"/>
              </a:rPr>
              <a:t>RESULTS</a:t>
            </a:r>
          </a:p>
        </p:txBody>
      </p:sp>
      <p:sp>
        <p:nvSpPr>
          <p:cNvPr id="3" name="Content Placeholder 3">
            <a:extLst>
              <a:ext uri="{FF2B5EF4-FFF2-40B4-BE49-F238E27FC236}">
                <a16:creationId xmlns:a16="http://schemas.microsoft.com/office/drawing/2014/main" id="{DC98DCC6-4BEC-94BC-F0DB-C77F2E79E36F}"/>
              </a:ext>
            </a:extLst>
          </p:cNvPr>
          <p:cNvSpPr>
            <a:spLocks noGrp="1"/>
          </p:cNvSpPr>
          <p:nvPr>
            <p:ph sz="quarter" idx="13"/>
          </p:nvPr>
        </p:nvSpPr>
        <p:spPr>
          <a:xfrm>
            <a:off x="1326198" y="2421488"/>
            <a:ext cx="10240962" cy="3924883"/>
          </a:xfrm>
        </p:spPr>
        <p:txBody>
          <a:bodyPr>
            <a:no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System detects facial gestures with high accuracy in normal lighting.</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Real-time response achieved.</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Gestures successfully mapped to:</a:t>
            </a:r>
          </a:p>
          <a:p>
            <a:pPr lvl="1"/>
            <a:r>
              <a:rPr lang="en-IN" sz="2400" dirty="0">
                <a:latin typeface="Times New Roman" panose="02020603050405020304" pitchFamily="18" charset="0"/>
                <a:cs typeface="Times New Roman" panose="02020603050405020304" pitchFamily="18" charset="0"/>
              </a:rPr>
              <a:t>Left Wink → Left Click</a:t>
            </a:r>
          </a:p>
          <a:p>
            <a:pPr lvl="1"/>
            <a:r>
              <a:rPr lang="en-IN" sz="2400" dirty="0">
                <a:latin typeface="Times New Roman" panose="02020603050405020304" pitchFamily="18" charset="0"/>
                <a:cs typeface="Times New Roman" panose="02020603050405020304" pitchFamily="18" charset="0"/>
              </a:rPr>
              <a:t>Right Wink → Right Click</a:t>
            </a:r>
          </a:p>
          <a:p>
            <a:pPr lvl="1"/>
            <a:r>
              <a:rPr lang="en-IN" sz="2400" dirty="0">
                <a:latin typeface="Times New Roman" panose="02020603050405020304" pitchFamily="18" charset="0"/>
                <a:cs typeface="Times New Roman" panose="02020603050405020304" pitchFamily="18" charset="0"/>
              </a:rPr>
              <a:t>Mouth Open → Enable/Disable Input Mode</a:t>
            </a:r>
          </a:p>
          <a:p>
            <a:pPr lvl="1"/>
            <a:r>
              <a:rPr lang="en-IN" sz="2400" dirty="0">
                <a:latin typeface="Times New Roman" panose="02020603050405020304" pitchFamily="18" charset="0"/>
                <a:cs typeface="Times New Roman" panose="02020603050405020304" pitchFamily="18" charset="0"/>
              </a:rPr>
              <a:t>Face squeeze → Toggle Scroll Mode</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Nose direction accurately moves cursor in all four directions.</a:t>
            </a:r>
          </a:p>
          <a:p>
            <a:pPr algn="just">
              <a:lnSpc>
                <a:spcPts val="2640"/>
              </a:lnSpc>
              <a:spcBef>
                <a:spcPts val="1200"/>
              </a:spcBef>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9454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39107-3F7A-8990-441C-E45FBDEE54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9B9156-A164-9045-4DBE-76D8CE33CB69}"/>
              </a:ext>
            </a:extLst>
          </p:cNvPr>
          <p:cNvSpPr>
            <a:spLocks noGrp="1"/>
          </p:cNvSpPr>
          <p:nvPr>
            <p:ph type="title"/>
          </p:nvPr>
        </p:nvSpPr>
        <p:spPr/>
        <p:txBody>
          <a:bodyPr/>
          <a:lstStyle/>
          <a:p>
            <a:r>
              <a:rPr lang="en-IN" sz="3500" dirty="0">
                <a:latin typeface="Times New Roman" panose="02020603050405020304" pitchFamily="18" charset="0"/>
                <a:cs typeface="Times New Roman" panose="02020603050405020304" pitchFamily="18" charset="0"/>
              </a:rPr>
              <a:t>RESULTS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6918" y="2578031"/>
            <a:ext cx="4006928" cy="3139710"/>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5536" y="2578031"/>
            <a:ext cx="4366690" cy="3024842"/>
          </a:xfrm>
          <a:prstGeom prst="rect">
            <a:avLst/>
          </a:prstGeom>
        </p:spPr>
      </p:pic>
    </p:spTree>
    <p:extLst>
      <p:ext uri="{BB962C8B-B14F-4D97-AF65-F5344CB8AC3E}">
        <p14:creationId xmlns:p14="http://schemas.microsoft.com/office/powerpoint/2010/main" val="2783146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39107-3F7A-8990-441C-E45FBDEE54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9B9156-A164-9045-4DBE-76D8CE33CB69}"/>
              </a:ext>
            </a:extLst>
          </p:cNvPr>
          <p:cNvSpPr>
            <a:spLocks noGrp="1"/>
          </p:cNvSpPr>
          <p:nvPr>
            <p:ph type="title"/>
          </p:nvPr>
        </p:nvSpPr>
        <p:spPr/>
        <p:txBody>
          <a:bodyPr/>
          <a:lstStyle/>
          <a:p>
            <a:r>
              <a:rPr lang="en-IN" sz="3500" dirty="0">
                <a:latin typeface="Times New Roman" panose="02020603050405020304" pitchFamily="18" charset="0"/>
                <a:cs typeface="Times New Roman" panose="02020603050405020304" pitchFamily="18" charset="0"/>
              </a:rPr>
              <a:t>RESULTS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7139" y="2685297"/>
            <a:ext cx="4422528" cy="2945903"/>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9586" y="2175835"/>
            <a:ext cx="4473052" cy="3553162"/>
          </a:xfrm>
          <a:prstGeom prst="rect">
            <a:avLst/>
          </a:prstGeom>
        </p:spPr>
      </p:pic>
    </p:spTree>
    <p:extLst>
      <p:ext uri="{BB962C8B-B14F-4D97-AF65-F5344CB8AC3E}">
        <p14:creationId xmlns:p14="http://schemas.microsoft.com/office/powerpoint/2010/main" val="9285296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EB6C9-9E83-40F3-4B8A-F287EB873F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242B38-7722-CE1A-7A28-8BDA65CFE5BD}"/>
              </a:ext>
            </a:extLst>
          </p:cNvPr>
          <p:cNvSpPr>
            <a:spLocks noGrp="1"/>
          </p:cNvSpPr>
          <p:nvPr>
            <p:ph type="title"/>
          </p:nvPr>
        </p:nvSpPr>
        <p:spPr/>
        <p:txBody>
          <a:bodyPr/>
          <a:lstStyle/>
          <a:p>
            <a:r>
              <a:rPr lang="en-IN" sz="3500" dirty="0">
                <a:latin typeface="Times New Roman" panose="02020603050405020304" pitchFamily="18" charset="0"/>
                <a:cs typeface="Times New Roman" panose="02020603050405020304" pitchFamily="18" charset="0"/>
              </a:rPr>
              <a:t>CONCLUSION &amp; FUTURE WORK</a:t>
            </a:r>
          </a:p>
        </p:txBody>
      </p:sp>
      <p:sp>
        <p:nvSpPr>
          <p:cNvPr id="5" name="Content Placeholder 3">
            <a:extLst>
              <a:ext uri="{FF2B5EF4-FFF2-40B4-BE49-F238E27FC236}">
                <a16:creationId xmlns:a16="http://schemas.microsoft.com/office/drawing/2014/main" id="{46240E63-6164-2979-6F7A-1D9DBCFCB8E3}"/>
              </a:ext>
            </a:extLst>
          </p:cNvPr>
          <p:cNvSpPr>
            <a:spLocks noGrp="1"/>
          </p:cNvSpPr>
          <p:nvPr>
            <p:ph sz="quarter" idx="13"/>
          </p:nvPr>
        </p:nvSpPr>
        <p:spPr>
          <a:xfrm>
            <a:off x="1073426" y="2744238"/>
            <a:ext cx="10681251" cy="4008119"/>
          </a:xfrm>
        </p:spPr>
        <p:txBody>
          <a:bodyPr>
            <a:noAutofit/>
          </a:bodyPr>
          <a:lstStyle/>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The proposed system provides a hands-free computer control method using facial landmarks and eye gestures.</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It detects eye blink </a:t>
            </a:r>
            <a:r>
              <a:rPr lang="en-IN" sz="2200" dirty="0" err="1">
                <a:latin typeface="Times New Roman" panose="02020603050405020304" pitchFamily="18" charset="0"/>
                <a:cs typeface="Times New Roman" panose="02020603050405020304" pitchFamily="18" charset="0"/>
              </a:rPr>
              <a:t>amd</a:t>
            </a:r>
            <a:r>
              <a:rPr lang="en-IN" sz="2200" dirty="0">
                <a:latin typeface="Times New Roman" panose="02020603050405020304" pitchFamily="18" charset="0"/>
                <a:cs typeface="Times New Roman" panose="02020603050405020304" pitchFamily="18" charset="0"/>
              </a:rPr>
              <a:t>  mouth movements in real time using OpenCV, </a:t>
            </a:r>
            <a:r>
              <a:rPr lang="en-IN" sz="2200" dirty="0" err="1">
                <a:latin typeface="Times New Roman" panose="02020603050405020304" pitchFamily="18" charset="0"/>
                <a:cs typeface="Times New Roman" panose="02020603050405020304" pitchFamily="18" charset="0"/>
              </a:rPr>
              <a:t>Dlib</a:t>
            </a:r>
            <a:r>
              <a:rPr lang="en-IN" sz="2200" dirty="0">
                <a:latin typeface="Times New Roman" panose="02020603050405020304" pitchFamily="18" charset="0"/>
                <a:cs typeface="Times New Roman" panose="02020603050405020304" pitchFamily="18" charset="0"/>
              </a:rPr>
              <a:t>, and </a:t>
            </a:r>
            <a:r>
              <a:rPr lang="en-IN" sz="2200" dirty="0" err="1">
                <a:latin typeface="Times New Roman" panose="02020603050405020304" pitchFamily="18" charset="0"/>
                <a:cs typeface="Times New Roman" panose="02020603050405020304" pitchFamily="18" charset="0"/>
              </a:rPr>
              <a:t>PyAutoGUI</a:t>
            </a:r>
            <a:r>
              <a:rPr lang="en-IN" sz="22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The system performs essential mouse actions like left click, right click, double click, and scrolling with good accuracy.</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Future improvements include adding drag-and-drop and gaze-based cursor movement, improving accuracy under different lighting conditions, and extending the system to gaming, virtual reality, and assistive technologies.</a:t>
            </a:r>
          </a:p>
          <a:p>
            <a:pPr marL="342900" indent="-342900" algn="just">
              <a:lnSpc>
                <a:spcPct val="100000"/>
              </a:lnSpc>
              <a:spcBef>
                <a:spcPts val="600"/>
              </a:spcBef>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lgn="just">
              <a:lnSpc>
                <a:spcPct val="100000"/>
              </a:lnSpc>
              <a:spcBef>
                <a:spcPts val="600"/>
              </a:spcBef>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2008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4985B-3768-CEF2-AABF-D08235BD0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A5CD12-ED75-A015-1392-23340AFC5EE7}"/>
              </a:ext>
            </a:extLst>
          </p:cNvPr>
          <p:cNvSpPr>
            <a:spLocks noGrp="1"/>
          </p:cNvSpPr>
          <p:nvPr>
            <p:ph type="title"/>
          </p:nvPr>
        </p:nvSpPr>
        <p:spPr/>
        <p:txBody>
          <a:bodyPr/>
          <a:lstStyle/>
          <a:p>
            <a:r>
              <a:rPr lang="en-US" sz="3500" dirty="0">
                <a:latin typeface="Times New Roman" panose="02020603050405020304" pitchFamily="18" charset="0"/>
                <a:cs typeface="Times New Roman" panose="02020603050405020304" pitchFamily="18" charset="0"/>
              </a:rPr>
              <a:t>REFERENCES</a:t>
            </a:r>
            <a:endParaRPr lang="en-IN" sz="3500" dirty="0">
              <a:latin typeface="Times New Roman" panose="02020603050405020304" pitchFamily="18" charset="0"/>
              <a:cs typeface="Times New Roman" panose="02020603050405020304" pitchFamily="18" charset="0"/>
            </a:endParaRPr>
          </a:p>
        </p:txBody>
      </p:sp>
      <p:sp>
        <p:nvSpPr>
          <p:cNvPr id="5" name="Content Placeholder 3">
            <a:extLst>
              <a:ext uri="{FF2B5EF4-FFF2-40B4-BE49-F238E27FC236}">
                <a16:creationId xmlns:a16="http://schemas.microsoft.com/office/drawing/2014/main" id="{F3137E18-B6D3-714B-2208-B79CAC2E9524}"/>
              </a:ext>
            </a:extLst>
          </p:cNvPr>
          <p:cNvSpPr>
            <a:spLocks noGrp="1"/>
          </p:cNvSpPr>
          <p:nvPr>
            <p:ph sz="quarter" idx="13"/>
          </p:nvPr>
        </p:nvSpPr>
        <p:spPr>
          <a:xfrm>
            <a:off x="945931" y="2475918"/>
            <a:ext cx="10270550" cy="3893352"/>
          </a:xfrm>
        </p:spPr>
        <p:txBody>
          <a:bodyPr>
            <a:noAutofit/>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 P. K. </a:t>
            </a:r>
            <a:r>
              <a:rPr lang="en-IN" sz="1600" dirty="0" err="1">
                <a:latin typeface="Times New Roman" panose="02020603050405020304" pitchFamily="18" charset="0"/>
                <a:cs typeface="Times New Roman" panose="02020603050405020304" pitchFamily="18" charset="0"/>
              </a:rPr>
              <a:t>Mygapula</a:t>
            </a:r>
            <a:r>
              <a:rPr lang="en-IN" sz="1600" dirty="0">
                <a:latin typeface="Times New Roman" panose="02020603050405020304" pitchFamily="18" charset="0"/>
                <a:cs typeface="Times New Roman" panose="02020603050405020304" pitchFamily="18" charset="0"/>
              </a:rPr>
              <a:t>, M. L. Saini, C. S. R. Dheeraj, S. Maji and D. Gupta, "Controlling Mouse Cursor through Eye Movement," </a:t>
            </a:r>
            <a:r>
              <a:rPr lang="en-IN" sz="1600" i="1" dirty="0">
                <a:latin typeface="Times New Roman" panose="02020603050405020304" pitchFamily="18" charset="0"/>
                <a:cs typeface="Times New Roman" panose="02020603050405020304" pitchFamily="18" charset="0"/>
              </a:rPr>
              <a:t>2024 International Conference on Signal Processing and Advance Research in Computing (SPARC)</a:t>
            </a:r>
            <a:r>
              <a:rPr lang="en-IN" sz="1600" dirty="0">
                <a:latin typeface="Times New Roman" panose="02020603050405020304" pitchFamily="18" charset="0"/>
                <a:cs typeface="Times New Roman" panose="02020603050405020304" pitchFamily="18" charset="0"/>
              </a:rPr>
              <a:t>, LUCKNOW, India, 2024, pp. 1-5, </a:t>
            </a:r>
            <a:r>
              <a:rPr lang="en-IN" sz="1600" dirty="0" err="1">
                <a:latin typeface="Times New Roman" panose="02020603050405020304" pitchFamily="18" charset="0"/>
                <a:cs typeface="Times New Roman" panose="02020603050405020304" pitchFamily="18" charset="0"/>
              </a:rPr>
              <a:t>doi</a:t>
            </a:r>
            <a:r>
              <a:rPr lang="en-IN" sz="1600" dirty="0">
                <a:latin typeface="Times New Roman" panose="02020603050405020304" pitchFamily="18" charset="0"/>
                <a:cs typeface="Times New Roman" panose="02020603050405020304" pitchFamily="18" charset="0"/>
              </a:rPr>
              <a:t>: 10.1109/SPARC61891.2024.10828631.</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 K R, P. R, A. N.S and M. </a:t>
            </a:r>
            <a:r>
              <a:rPr lang="en-IN" sz="1600" dirty="0" err="1">
                <a:latin typeface="Times New Roman" panose="02020603050405020304" pitchFamily="18" charset="0"/>
                <a:cs typeface="Times New Roman" panose="02020603050405020304" pitchFamily="18" charset="0"/>
              </a:rPr>
              <a:t>Rathishree</a:t>
            </a:r>
            <a:r>
              <a:rPr lang="en-IN" sz="1600" dirty="0">
                <a:latin typeface="Times New Roman" panose="02020603050405020304" pitchFamily="18" charset="0"/>
                <a:cs typeface="Times New Roman" panose="02020603050405020304" pitchFamily="18" charset="0"/>
              </a:rPr>
              <a:t>, "Cursor Control Based on Eyeball Movement Using Deep Learning," </a:t>
            </a:r>
            <a:r>
              <a:rPr lang="en-IN" sz="1600" i="1" dirty="0">
                <a:latin typeface="Times New Roman" panose="02020603050405020304" pitchFamily="18" charset="0"/>
                <a:cs typeface="Times New Roman" panose="02020603050405020304" pitchFamily="18" charset="0"/>
              </a:rPr>
              <a:t>2023 Intelligent Computing and Control for Engineering and Business Systems (ICCEBS)</a:t>
            </a:r>
            <a:r>
              <a:rPr lang="en-IN" sz="1600" dirty="0">
                <a:latin typeface="Times New Roman" panose="02020603050405020304" pitchFamily="18" charset="0"/>
                <a:cs typeface="Times New Roman" panose="02020603050405020304" pitchFamily="18" charset="0"/>
              </a:rPr>
              <a:t>, Chennai, India, 2023, pp. 1-5, </a:t>
            </a:r>
            <a:r>
              <a:rPr lang="en-IN" sz="1600" dirty="0" err="1">
                <a:latin typeface="Times New Roman" panose="02020603050405020304" pitchFamily="18" charset="0"/>
                <a:cs typeface="Times New Roman" panose="02020603050405020304" pitchFamily="18" charset="0"/>
              </a:rPr>
              <a:t>doi</a:t>
            </a:r>
            <a:r>
              <a:rPr lang="en-IN" sz="1600" dirty="0">
                <a:latin typeface="Times New Roman" panose="02020603050405020304" pitchFamily="18" charset="0"/>
                <a:cs typeface="Times New Roman" panose="02020603050405020304" pitchFamily="18" charset="0"/>
              </a:rPr>
              <a:t>: 10.1109/ICCEBS58601.2023.10448773.</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Abiyev, R. H., &amp; Arslan, M. (2019). </a:t>
            </a:r>
            <a:r>
              <a:rPr lang="en-IN" sz="1600" i="1" dirty="0">
                <a:latin typeface="Times New Roman" panose="02020603050405020304" pitchFamily="18" charset="0"/>
                <a:cs typeface="Times New Roman" panose="02020603050405020304" pitchFamily="18" charset="0"/>
              </a:rPr>
              <a:t>Head Mouse Control System for People with Disabilities</a:t>
            </a:r>
            <a:r>
              <a:rPr lang="en-IN" sz="1600" dirty="0">
                <a:latin typeface="Times New Roman" panose="02020603050405020304" pitchFamily="18" charset="0"/>
                <a:cs typeface="Times New Roman" panose="02020603050405020304" pitchFamily="18" charset="0"/>
              </a:rPr>
              <a:t>. IEEE Access.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Murthy, M. S., et al. (2024). </a:t>
            </a:r>
            <a:r>
              <a:rPr lang="en-IN" sz="1600" i="1" dirty="0">
                <a:latin typeface="Times New Roman" panose="02020603050405020304" pitchFamily="18" charset="0"/>
                <a:cs typeface="Times New Roman" panose="02020603050405020304" pitchFamily="18" charset="0"/>
              </a:rPr>
              <a:t>Mouse Cursor Control with Eye Gestures</a:t>
            </a:r>
            <a:r>
              <a:rPr lang="en-IN" sz="1600" dirty="0">
                <a:latin typeface="Times New Roman" panose="02020603050405020304" pitchFamily="18" charset="0"/>
                <a:cs typeface="Times New Roman" panose="02020603050405020304" pitchFamily="18" charset="0"/>
              </a:rPr>
              <a:t>. IEEE International Conference on Inventive Communication and Computational Technologies (ICICT).</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Kanakaprabha, S., et al. (2023). </a:t>
            </a:r>
            <a:r>
              <a:rPr lang="en-IN" sz="1600" i="1" dirty="0">
                <a:latin typeface="Times New Roman" panose="02020603050405020304" pitchFamily="18" charset="0"/>
                <a:cs typeface="Times New Roman" panose="02020603050405020304" pitchFamily="18" charset="0"/>
              </a:rPr>
              <a:t>Mouse Cursor Controlled by Eye Movement for Individuals with Disabilities</a:t>
            </a:r>
            <a:r>
              <a:rPr lang="en-IN" sz="1600" dirty="0">
                <a:latin typeface="Times New Roman" panose="02020603050405020304" pitchFamily="18" charset="0"/>
                <a:cs typeface="Times New Roman" panose="02020603050405020304" pitchFamily="18" charset="0"/>
              </a:rPr>
              <a:t>. Proceedings of the 7th International Conference on Intelligent Computing and Control Systems (ICICCS).</a:t>
            </a:r>
          </a:p>
        </p:txBody>
      </p:sp>
    </p:spTree>
    <p:extLst>
      <p:ext uri="{BB962C8B-B14F-4D97-AF65-F5344CB8AC3E}">
        <p14:creationId xmlns:p14="http://schemas.microsoft.com/office/powerpoint/2010/main" val="3998030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8F371-8DC0-95BF-F2F4-02CDEE91C8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ABF08-80A6-F51D-CA0D-181EFB50A22C}"/>
              </a:ext>
            </a:extLst>
          </p:cNvPr>
          <p:cNvSpPr>
            <a:spLocks noGrp="1"/>
          </p:cNvSpPr>
          <p:nvPr>
            <p:ph type="title"/>
          </p:nvPr>
        </p:nvSpPr>
        <p:spPr/>
        <p:txBody>
          <a:bodyPr/>
          <a:lstStyle/>
          <a:p>
            <a:r>
              <a:rPr lang="en-US" sz="3500" dirty="0">
                <a:latin typeface="Times New Roman" panose="02020603050405020304" pitchFamily="18" charset="0"/>
                <a:cs typeface="Times New Roman" panose="02020603050405020304" pitchFamily="18" charset="0"/>
              </a:rPr>
              <a:t>REFERENCES</a:t>
            </a:r>
            <a:endParaRPr lang="en-IN" sz="3500" dirty="0">
              <a:latin typeface="Times New Roman" panose="02020603050405020304" pitchFamily="18" charset="0"/>
              <a:cs typeface="Times New Roman" panose="02020603050405020304" pitchFamily="18" charset="0"/>
            </a:endParaRPr>
          </a:p>
        </p:txBody>
      </p:sp>
      <p:sp>
        <p:nvSpPr>
          <p:cNvPr id="5" name="Content Placeholder 3">
            <a:extLst>
              <a:ext uri="{FF2B5EF4-FFF2-40B4-BE49-F238E27FC236}">
                <a16:creationId xmlns:a16="http://schemas.microsoft.com/office/drawing/2014/main" id="{7641EE19-FF5F-8FC5-3A24-410A380F3FDC}"/>
              </a:ext>
            </a:extLst>
          </p:cNvPr>
          <p:cNvSpPr>
            <a:spLocks noGrp="1"/>
          </p:cNvSpPr>
          <p:nvPr>
            <p:ph sz="quarter" idx="13"/>
          </p:nvPr>
        </p:nvSpPr>
        <p:spPr>
          <a:xfrm>
            <a:off x="975519" y="2475917"/>
            <a:ext cx="10240962" cy="3924883"/>
          </a:xfrm>
        </p:spPr>
        <p:txBody>
          <a:bodyPr>
            <a:noAutofit/>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Miah, P., et al. (2022). Mouse Cursor Movement and Control using Eye Gaze- A Human Computer Interaction.  </a:t>
            </a:r>
            <a:r>
              <a:rPr lang="en-IN" sz="1600" i="1" dirty="0">
                <a:latin typeface="Times New Roman" panose="02020603050405020304" pitchFamily="18" charset="0"/>
                <a:cs typeface="Times New Roman" panose="02020603050405020304" pitchFamily="18" charset="0"/>
              </a:rPr>
              <a:t>2022 International Conference on Artificial Intelligence of Things (</a:t>
            </a:r>
            <a:r>
              <a:rPr lang="en-IN" sz="1600" i="1" dirty="0" err="1">
                <a:latin typeface="Times New Roman" panose="02020603050405020304" pitchFamily="18" charset="0"/>
                <a:cs typeface="Times New Roman" panose="02020603050405020304" pitchFamily="18" charset="0"/>
              </a:rPr>
              <a:t>ICAIoT</a:t>
            </a:r>
            <a:r>
              <a:rPr lang="en-IN" sz="1600" i="1"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Jayalakshmi, M., et al. (2024). Multi-model Human-Computer Interaction System with Hand Gesture and Eye Gesture Control. </a:t>
            </a:r>
            <a:r>
              <a:rPr lang="en-IN" sz="1600" i="1" dirty="0">
                <a:latin typeface="Times New Roman" panose="02020603050405020304" pitchFamily="18" charset="0"/>
                <a:cs typeface="Times New Roman" panose="02020603050405020304" pitchFamily="18" charset="0"/>
              </a:rPr>
              <a:t>2024 5th International Conference on Innovative Trends in Information Technology (ICITIIT)</a:t>
            </a:r>
            <a:r>
              <a:rPr lang="en-IN" sz="16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Vasisht, V. S., et al. (2019). Human computer interaction based eye controlled mouse. </a:t>
            </a:r>
            <a:r>
              <a:rPr lang="en-IN" sz="1600" i="1" dirty="0">
                <a:latin typeface="Times New Roman" panose="02020603050405020304" pitchFamily="18" charset="0"/>
                <a:cs typeface="Times New Roman" panose="02020603050405020304" pitchFamily="18" charset="0"/>
              </a:rPr>
              <a:t>Proceedings of the Third International Conference on Electronics Communication and Aerospace Technology (ICECA)</a:t>
            </a:r>
            <a:r>
              <a:rPr lang="en-IN" sz="16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Schoemann, M., et al. (2021). Using mouse cursor tracking to investigate online cognition: Preserving methodological ingenuity while moving toward reproducible science. </a:t>
            </a:r>
            <a:r>
              <a:rPr lang="en-IN" sz="1600" i="1" dirty="0">
                <a:latin typeface="Times New Roman" panose="02020603050405020304" pitchFamily="18" charset="0"/>
                <a:cs typeface="Times New Roman" panose="02020603050405020304" pitchFamily="18" charset="0"/>
              </a:rPr>
              <a:t>Psychonomic Bulletin &amp; Review</a:t>
            </a:r>
            <a:r>
              <a:rPr lang="en-IN" sz="16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Sreeni, S., et al. (2023). Mouse Cursor Control Using Facial Movements-An HCI Application. </a:t>
            </a:r>
            <a:r>
              <a:rPr lang="en-IN" sz="1600" i="1" dirty="0">
                <a:latin typeface="Times New Roman" panose="02020603050405020304" pitchFamily="18" charset="0"/>
                <a:cs typeface="Times New Roman" panose="02020603050405020304" pitchFamily="18" charset="0"/>
              </a:rPr>
              <a:t>International Journal of Techno-Engineering (IJTE)</a:t>
            </a:r>
            <a:r>
              <a:rPr lang="en-IN" sz="16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Dhanaraju</a:t>
            </a:r>
            <a:r>
              <a:rPr lang="en-IN" sz="1600" dirty="0">
                <a:latin typeface="Times New Roman" panose="02020603050405020304" pitchFamily="18" charset="0"/>
                <a:cs typeface="Times New Roman" panose="02020603050405020304" pitchFamily="18" charset="0"/>
              </a:rPr>
              <a:t>, M., Mekala, S., Rao, A. H. V., Kumar, C. P., &amp; Lokesh, R. (2022). </a:t>
            </a:r>
            <a:r>
              <a:rPr lang="en-IN" sz="1600" i="1" dirty="0">
                <a:latin typeface="Times New Roman" panose="02020603050405020304" pitchFamily="18" charset="0"/>
                <a:cs typeface="Times New Roman" panose="02020603050405020304" pitchFamily="18" charset="0"/>
              </a:rPr>
              <a:t>Human-Eye Controlled Virtual Mouse</a:t>
            </a:r>
            <a:r>
              <a:rPr lang="en-IN" sz="1600" dirty="0">
                <a:latin typeface="Times New Roman" panose="02020603050405020304" pitchFamily="18" charset="0"/>
                <a:cs typeface="Times New Roman" panose="02020603050405020304" pitchFamily="18" charset="0"/>
              </a:rPr>
              <a:t>. International Journal for Research in Applied Science &amp; Engineering Technology (IJRASET).</a:t>
            </a:r>
          </a:p>
        </p:txBody>
      </p:sp>
    </p:spTree>
    <p:extLst>
      <p:ext uri="{BB962C8B-B14F-4D97-AF65-F5344CB8AC3E}">
        <p14:creationId xmlns:p14="http://schemas.microsoft.com/office/powerpoint/2010/main" val="14494982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C1B7-6E4E-3DEE-50C0-1CA3B14303EE}"/>
              </a:ext>
            </a:extLst>
          </p:cNvPr>
          <p:cNvSpPr>
            <a:spLocks noGrp="1"/>
          </p:cNvSpPr>
          <p:nvPr>
            <p:ph type="ctrTitle"/>
          </p:nvPr>
        </p:nvSpPr>
        <p:spPr>
          <a:xfrm>
            <a:off x="594360" y="411479"/>
            <a:ext cx="5486400" cy="3291840"/>
          </a:xfrm>
        </p:spPr>
        <p:txBody>
          <a:bodyPr/>
          <a:lstStyle/>
          <a:p>
            <a:r>
              <a:rPr lang="en-US" dirty="0"/>
              <a:t>Thank you</a:t>
            </a:r>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C21FFAC0-05A2-416A-B06C-C248395482C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Geometric annual presentation</Template>
  <TotalTime>2561</TotalTime>
  <Words>1215</Words>
  <Application>Microsoft Macintosh PowerPoint</Application>
  <PresentationFormat>Widescreen</PresentationFormat>
  <Paragraphs>79</Paragraphs>
  <Slides>16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Franklin Gothic Book</vt:lpstr>
      <vt:lpstr>Franklin Gothic Demi</vt:lpstr>
      <vt:lpstr>Times New Roman</vt:lpstr>
      <vt:lpstr>Custom</vt:lpstr>
      <vt:lpstr>EYETRACKMOUSE: A HANDS-FREE HUMAN-COMPUTER INTERACTION SYSTEM          Srudhan Eerla       24MCB1002</vt:lpstr>
      <vt:lpstr>INTRODUCTION</vt:lpstr>
      <vt:lpstr>PROBLEM STATEMENT</vt:lpstr>
      <vt:lpstr>RESEARCH OBJECTIVES</vt:lpstr>
      <vt:lpstr>PROPOSED SYSTEM</vt:lpstr>
      <vt:lpstr>BLOCK  DIAGRAM</vt:lpstr>
      <vt:lpstr>LIST OF MODULES</vt:lpstr>
      <vt:lpstr>MODULES</vt:lpstr>
      <vt:lpstr>MODULES</vt:lpstr>
      <vt:lpstr>RESULTS</vt:lpstr>
      <vt:lpstr>RESULTS</vt:lpstr>
      <vt:lpstr>RESULTS</vt:lpstr>
      <vt:lpstr>CONCLUSION &amp; FUTURE WORK</vt:lpstr>
      <vt:lpstr>REFERENCES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EYETRACKMOUSE: A HANDS-FREE HUMAN-COMPUTER INTERACTION SYSTEM          Srudhan Eerla       24MCB1002</dc:title>
  <dc:creator>srujan k</dc:creator>
  <cp:lastModifiedBy>Srudhan Eerla</cp:lastModifiedBy>
  <cp:revision>13</cp:revision>
  <dcterms:created xsi:type="dcterms:W3CDTF">2024-11-12T04:32:09Z</dcterms:created>
  <dcterms:modified xsi:type="dcterms:W3CDTF">2025-11-11T08:18:50Z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